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926080"/>
            <a:ext cx="2286000" cy="2286000"/>
          </a:xfrm>
          <a:prstGeom prst="ellipse">
            <a:avLst/>
          </a:prstGeom>
          <a:solidFill>
            <a:srgbClr val="14B8A6">
              <a:alpha val="10000"/>
            </a:srgbClr>
          </a:solidFill>
          <a:ln w="12700">
            <a:solidFill>
              <a:srgbClr val="14B8A6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84048"/>
            <a:ext cx="1664208" cy="256032"/>
          </a:xfrm>
          <a:prstGeom prst="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8404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STUDIO 5 PROJECT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148840" y="384048"/>
            <a:ext cx="1837944" cy="256032"/>
          </a:xfrm>
          <a:prstGeom prst="rect">
            <a:avLst>
              <a:gd name="adj" fmla="val 14286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384048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ADCFC"/>
                </a:solidFill>
              </a:rPr>
              <a:t>ACADEMIC PROTOTYPE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OneStep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502920" y="166420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4B8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HealthCare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502920" y="27889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A0BFD8"/>
                </a:solidFill>
              </a:rPr>
              <a:t>A full-stack digital health platform — intelligent booking, blockchain prescriptions,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A0BFD8"/>
                </a:solidFill>
              </a:rPr>
              <a:t>AI triage, real-time video consultations and secure pharmacy verification.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858768"/>
            <a:ext cx="9144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858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EC8E3"/>
                </a:solidFill>
              </a:rPr>
              <a:t>React 18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527048" y="3858768"/>
            <a:ext cx="832104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27048" y="3858768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EC8E3"/>
                </a:solidFill>
              </a:rPr>
              <a:t>Node.js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68880" y="3858768"/>
            <a:ext cx="667512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3858768"/>
            <a:ext cx="667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EC8E3"/>
                </a:solidFill>
              </a:rPr>
              <a:t>MySQL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6120" y="3858768"/>
            <a:ext cx="9144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3858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EC8E3"/>
                </a:solidFill>
              </a:rPr>
              <a:t>Ethereum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70248" y="3858768"/>
            <a:ext cx="832104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0248" y="3858768"/>
            <a:ext cx="832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EC8E3"/>
                </a:solidFill>
              </a:rPr>
              <a:t>Groq AI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12080" y="3858768"/>
            <a:ext cx="749808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385876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EC8E3"/>
                </a:solidFill>
              </a:rPr>
              <a:t>Stripe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71616" y="3858768"/>
            <a:ext cx="996696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2D5A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71616" y="3858768"/>
            <a:ext cx="996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EC8E3"/>
                </a:solidFill>
              </a:rPr>
              <a:t>Agora RTC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2 / 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229868" cy="256032"/>
          </a:xfrm>
          <a:prstGeom prst="rect">
            <a:avLst>
              <a:gd name="adj" fmla="val 14286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2298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THE PROBLEM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Healthcare Access Is Broken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Fragmented systems, paper prescriptions, no audit trail — patients and providers deserve better.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26517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691640"/>
            <a:ext cx="265176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856232"/>
            <a:ext cx="475488" cy="475488"/>
          </a:xfrm>
          <a:prstGeom prst="ellipse">
            <a:avLst/>
          </a:prstGeom>
          <a:solidFill>
            <a:srgbClr val="E11D48">
              <a:alpha val="15000"/>
            </a:srgbClr>
          </a:solidFill>
          <a:ln w="12700">
            <a:solidFill>
              <a:srgbClr val="E11D48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84708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5568" y="186537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No Unified Patient Record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350008"/>
            <a:ext cx="232257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Prescriptions on paper, reports in email — scattered across providers with zero integrity checking.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1691640"/>
            <a:ext cx="26517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69164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1856232"/>
            <a:ext cx="475488" cy="47548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184708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50208" y="186537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Prescription Fraud Risk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64992" y="2350008"/>
            <a:ext cx="232257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Paper and digital prescriptions can be forged or reused. No tamper-proof audit chain exists in most systems.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35040" y="1691640"/>
            <a:ext cx="26517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691640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9632" y="1856232"/>
            <a:ext cx="475488" cy="475488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1847088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84848" y="186537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Poor Access to Specialists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99632" y="2350008"/>
            <a:ext cx="2322576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Finding and booking a specialist is slow, opaque, and often requires multiple phone calls and in-person visits.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54864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47472"/>
            <a:ext cx="1316736" cy="256032"/>
          </a:xfrm>
          <a:prstGeom prst="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47472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OUR SOLUTION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platform.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step.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176272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0BFD8"/>
                </a:solidFill>
              </a:rPr>
              <a:t>OneStep HealthCare connects patients, doctors, pharmacists and administrators in a single secure platform — from booking to blockchain-verified prescriptions.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457200"/>
            <a:ext cx="2103120" cy="1298448"/>
          </a:xfrm>
          <a:prstGeom prst="rect">
            <a:avLst/>
          </a:prstGeom>
          <a:solidFill>
            <a:srgbClr val="0F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53712" y="621792"/>
            <a:ext cx="438912" cy="438912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07992" y="603504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02352" y="6583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Doctor Marketplace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53712" y="1426464"/>
            <a:ext cx="1737360" cy="36576"/>
          </a:xfrm>
          <a:prstGeom prst="rect">
            <a:avLst/>
          </a:prstGeom>
          <a:solidFill>
            <a:srgbClr val="0D9488">
              <a:alpha val="45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20840" y="457200"/>
            <a:ext cx="2103120" cy="1298448"/>
          </a:xfrm>
          <a:prstGeom prst="rect">
            <a:avLst/>
          </a:prstGeom>
          <a:solidFill>
            <a:srgbClr val="0F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85432" y="621792"/>
            <a:ext cx="438912" cy="438912"/>
          </a:xfrm>
          <a:prstGeom prst="ellipse">
            <a:avLst/>
          </a:prstGeom>
          <a:solidFill>
            <a:srgbClr val="2563EB">
              <a:alpha val="25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9712" y="603504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📅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434072" y="65836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Smart Booking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85432" y="1426464"/>
            <a:ext cx="1737360" cy="36576"/>
          </a:xfrm>
          <a:prstGeom prst="rect">
            <a:avLst/>
          </a:prstGeom>
          <a:solidFill>
            <a:srgbClr val="2563EB">
              <a:alpha val="45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89120" y="1965960"/>
            <a:ext cx="2103120" cy="1298448"/>
          </a:xfrm>
          <a:prstGeom prst="rect">
            <a:avLst/>
          </a:prstGeom>
          <a:solidFill>
            <a:srgbClr val="0F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53712" y="2130552"/>
            <a:ext cx="438912" cy="438912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7992" y="2112264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📹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02352" y="21671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Video Consult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53712" y="2935224"/>
            <a:ext cx="1737360" cy="36576"/>
          </a:xfrm>
          <a:prstGeom prst="rect">
            <a:avLst/>
          </a:prstGeom>
          <a:solidFill>
            <a:srgbClr val="7C3AED">
              <a:alpha val="45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1965960"/>
            <a:ext cx="2103120" cy="1298448"/>
          </a:xfrm>
          <a:prstGeom prst="rect">
            <a:avLst/>
          </a:prstGeom>
          <a:solidFill>
            <a:srgbClr val="0F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85432" y="2130552"/>
            <a:ext cx="438912" cy="438912"/>
          </a:xfrm>
          <a:prstGeom prst="ellipse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9712" y="2112264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⛓️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34072" y="216712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Blockchain Rx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85432" y="2935224"/>
            <a:ext cx="1737360" cy="36576"/>
          </a:xfrm>
          <a:prstGeom prst="rect">
            <a:avLst/>
          </a:prstGeom>
          <a:solidFill>
            <a:srgbClr val="F59E0B">
              <a:alpha val="45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389120" y="3474720"/>
            <a:ext cx="2103120" cy="1298448"/>
          </a:xfrm>
          <a:prstGeom prst="rect">
            <a:avLst/>
          </a:prstGeom>
          <a:solidFill>
            <a:srgbClr val="0F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53712" y="3639312"/>
            <a:ext cx="438912" cy="438912"/>
          </a:xfrm>
          <a:prstGeom prst="ellipse">
            <a:avLst/>
          </a:prstGeom>
          <a:solidFill>
            <a:srgbClr val="059669">
              <a:alpha val="25000"/>
            </a:srgbClr>
          </a:solidFill>
          <a:ln w="12700">
            <a:solidFill>
              <a:srgbClr val="059669">
                <a:alpha val="4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07992" y="3621024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02352" y="367588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AI Symptom Triage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53712" y="4443984"/>
            <a:ext cx="1737360" cy="36576"/>
          </a:xfrm>
          <a:prstGeom prst="rect">
            <a:avLst/>
          </a:prstGeom>
          <a:solidFill>
            <a:srgbClr val="059669">
              <a:alpha val="45000"/>
            </a:srgbClr>
          </a:solidFill>
          <a:ln w="12700">
            <a:solidFill>
              <a:srgbClr val="059669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20840" y="3474720"/>
            <a:ext cx="2103120" cy="1298448"/>
          </a:xfrm>
          <a:prstGeom prst="rect">
            <a:avLst/>
          </a:prstGeom>
          <a:solidFill>
            <a:srgbClr val="0F2A3F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85432" y="3639312"/>
            <a:ext cx="438912" cy="438912"/>
          </a:xfrm>
          <a:prstGeom prst="ellipse">
            <a:avLst/>
          </a:prstGeom>
          <a:solidFill>
            <a:srgbClr val="E11D48">
              <a:alpha val="25000"/>
            </a:srgbClr>
          </a:solidFill>
          <a:ln w="12700">
            <a:solidFill>
              <a:srgbClr val="E11D48">
                <a:alpha val="4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39712" y="3621024"/>
            <a:ext cx="530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💊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434072" y="3675888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Pharmacy Portal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85432" y="4443984"/>
            <a:ext cx="1737360" cy="36576"/>
          </a:xfrm>
          <a:prstGeom prst="rect">
            <a:avLst/>
          </a:prstGeom>
          <a:solidFill>
            <a:srgbClr val="E11D48">
              <a:alpha val="45000"/>
            </a:srgbClr>
          </a:solidFill>
          <a:ln w="12700">
            <a:solidFill>
              <a:srgbClr val="E11D48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4 / 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316736" cy="256032"/>
          </a:xfrm>
          <a:prstGeom prst="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47472" y="1298448"/>
            <a:ext cx="2670048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98448"/>
            <a:ext cx="2670048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447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Frontend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0352" y="17922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React 18 + Vite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2066544"/>
            <a:ext cx="23042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Patient, Doctor, Pharmacist &amp; Admin dashboards. Deployed on Vercel.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2816352"/>
            <a:ext cx="2304288" cy="301752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16352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PatientDashboard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30352" y="3200400"/>
            <a:ext cx="2304288" cy="301752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00400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DoctorDashboard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" y="3584448"/>
            <a:ext cx="2304288" cy="301752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84448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PharmacyPortal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" y="3968496"/>
            <a:ext cx="2304288" cy="301752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968496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AdminPanel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1298448"/>
            <a:ext cx="2670048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298448"/>
            <a:ext cx="2670048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4447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Backend API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83280" y="17922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Node.js + Express (ESM)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2066544"/>
            <a:ext cx="23042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RESTful API with JWT auth, role-based middleware, PDF generation.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280" y="2816352"/>
            <a:ext cx="2304288" cy="30175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93008" y="2816352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Auth &amp; Roles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3200400"/>
            <a:ext cx="2304288" cy="30175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93008" y="3200400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Appointments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3584448"/>
            <a:ext cx="2304288" cy="30175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3584448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Reports &amp; PDF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3968496"/>
            <a:ext cx="2304288" cy="301752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3968496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Payments (Stripe)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53328" y="1298448"/>
            <a:ext cx="2670048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53328" y="1298448"/>
            <a:ext cx="2670048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14447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Data &amp; Chain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36208" y="179222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MySQL + Ethereum Sepolia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36208" y="2066544"/>
            <a:ext cx="23042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Relational DB for all records. Solidity smart contract for tamper-proof prescription hashes.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36208" y="2816352"/>
            <a:ext cx="2304288" cy="30175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45936" y="2816352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MySQL (mysql2)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36208" y="3200400"/>
            <a:ext cx="2304288" cy="30175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45936" y="3200400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ReportIntegrity.sol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36208" y="3584448"/>
            <a:ext cx="2304288" cy="30175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45936" y="3584448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SHA-256 Hashing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36208" y="3968496"/>
            <a:ext cx="2304288" cy="301752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45936" y="3968496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</a:rPr>
              <a:t>Ethers.js v6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035808" y="2926080"/>
            <a:ext cx="914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888736" y="2926080"/>
            <a:ext cx="914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dash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347472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+ Groq Llama 3.3-70b (AI Triage)  ·  Agora RTC (Video)  ·  AWS S3 (PDF storage)  ·  bcrypt (Password hashing)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 / 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837944" cy="256032"/>
          </a:xfrm>
          <a:prstGeom prst="rect">
            <a:avLst>
              <a:gd name="adj" fmla="val 14286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PATIENT EXPERIENCE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Patient Journey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FD8"/>
                </a:solidFill>
              </a:rPr>
              <a:t>Every interaction — from discovery to prescription — handled in one platform.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4672" y="2395728"/>
            <a:ext cx="749808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48640" y="2084832"/>
            <a:ext cx="530352" cy="53035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2706624"/>
            <a:ext cx="804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Find Doctor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035808"/>
            <a:ext cx="804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Browse specialists, view profiles &amp; fees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20240" y="2084832"/>
            <a:ext cx="530352" cy="53035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783080" y="2706624"/>
            <a:ext cx="804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Book Slot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83080" y="3035808"/>
            <a:ext cx="804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Select date/time, choose in-person or video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91840" y="2084832"/>
            <a:ext cx="530352" cy="53035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154680" y="2706624"/>
            <a:ext cx="804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Pay Online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54680" y="3035808"/>
            <a:ext cx="804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Stripe payment — consultation fee secured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084832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26280" y="2706624"/>
            <a:ext cx="804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Consult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26280" y="3035808"/>
            <a:ext cx="804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Live video call via Agora RTC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2084832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35040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897880" y="2706624"/>
            <a:ext cx="804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Get Report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897880" y="3035808"/>
            <a:ext cx="804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PDF generated, blockchain-anchored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06640" y="2084832"/>
            <a:ext cx="530352" cy="530352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20848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269480" y="2706624"/>
            <a:ext cx="8046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Collect Rx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269480" y="3035808"/>
            <a:ext cx="804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4748B"/>
                </a:solidFill>
              </a:rPr>
              <a:t>RX code shown — pharmacist verifies on-chain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224528"/>
            <a:ext cx="822960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31596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A0BFD8"/>
                </a:solidFill>
              </a:rPr>
              <a:t>✅  Patient can track appointment status, payment, blockchain verification and pharmacy code — all from the Patient Dashboard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6 / 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403604" cy="256032"/>
          </a:xfrm>
          <a:prstGeom prst="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4036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DOCTOR MODULE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5486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Doctor Dashboard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6517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26517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463040"/>
            <a:ext cx="475488" cy="475488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45389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15568" y="147218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Appointment Queue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1956816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View all pending, confirmed, and completed appointments. Filter by status or search by patient name.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0" y="1298448"/>
            <a:ext cx="26517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298448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64992" y="1463040"/>
            <a:ext cx="475488" cy="475488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145389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950208" y="147218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Report Generation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64992" y="1956816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Fill diagnosis, prescription, and notes. System generates a professional PDF automatically.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35040" y="1298448"/>
            <a:ext cx="26517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0" y="1298448"/>
            <a:ext cx="265176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9632" y="1463040"/>
            <a:ext cx="475488" cy="475488"/>
          </a:xfrm>
          <a:prstGeom prst="ellipse">
            <a:avLst/>
          </a:prstGeom>
          <a:solidFill>
            <a:srgbClr val="7C3AED">
              <a:alpha val="15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145389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📹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84848" y="147218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Video Call Launch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99632" y="1956816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One-click to join Agora RTC video room with patient — no third-party app needed.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172968"/>
            <a:ext cx="26517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172968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0352" y="3337560"/>
            <a:ext cx="475488" cy="47548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" y="332841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⛓️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15568" y="334670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Blockchain Anchor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" y="3831336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Report PDF hash stored on Ethereum Sepolia. Every report is tamper-evident from creation.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0" y="3172968"/>
            <a:ext cx="26517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0" y="3172968"/>
            <a:ext cx="26517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64992" y="3337560"/>
            <a:ext cx="475488" cy="475488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28416" y="332841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💊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950208" y="334670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Prescription Writer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364992" y="3831336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Prescription text saved and anchored on-chain. Generates RX code the patient shows at pharmacy.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35040" y="3172968"/>
            <a:ext cx="265176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3172968"/>
            <a:ext cx="2651760" cy="5486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99632" y="3337560"/>
            <a:ext cx="475488" cy="475488"/>
          </a:xfrm>
          <a:prstGeom prst="ellipse">
            <a:avLst/>
          </a:prstGeom>
          <a:solidFill>
            <a:srgbClr val="E11D48">
              <a:alpha val="15000"/>
            </a:srgbClr>
          </a:solidFill>
          <a:ln w="12700">
            <a:solidFill>
              <a:srgbClr val="E11D48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63056" y="332841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784848" y="334670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Patient History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99632" y="3831336"/>
            <a:ext cx="23225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All past consultation reports accessible. Doctor can review previous diagnoses for continuity of care.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7 / 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143000" cy="256032"/>
          </a:xfrm>
          <a:prstGeom prst="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BLOCKCHAIN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Tamper-Proof Prescriptions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Ethereum Sepolia Testnet  ·  Solidity 0.8.x  ·  ReportIntegrity.sol  ·  Ethers.js v6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664208"/>
            <a:ext cx="1572768" cy="29260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664208"/>
            <a:ext cx="157276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81051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41832" y="230428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" y="2816352"/>
            <a:ext cx="1389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Doctor Writes Rx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3291840"/>
            <a:ext cx="13898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BFD8"/>
                </a:solidFill>
              </a:rPr>
              <a:t>Doctor enters prescription text alongside diagnosis. System normalises text for consistent hashing.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66544" y="1664208"/>
            <a:ext cx="1572768" cy="29260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66544" y="1664208"/>
            <a:ext cx="157276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66544" y="181051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660904" y="230428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60904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57984" y="2816352"/>
            <a:ext cx="1389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SHA-256 Hash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57984" y="3291840"/>
            <a:ext cx="13898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BFD8"/>
                </a:solidFill>
              </a:rPr>
              <a:t>Node.js crypto generates a 32-byte SHA-256 hash of the prescription text, padded to bytes32 format.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785616" y="1664208"/>
            <a:ext cx="1572768" cy="29260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85616" y="1664208"/>
            <a:ext cx="157276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85616" y="181051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⛓️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4379976" y="230428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79976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77056" y="2816352"/>
            <a:ext cx="1389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Store On-Chain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77056" y="3291840"/>
            <a:ext cx="13898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BFD8"/>
                </a:solidFill>
              </a:rPr>
              <a:t>storePrescription(reportId, bytes32Hash) called on ReportIntegrity.sol. Transaction hash saved to DB.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04688" y="1664208"/>
            <a:ext cx="1572768" cy="29260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04688" y="1664208"/>
            <a:ext cx="157276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04688" y="181051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6099048" y="230428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99048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96128" y="2816352"/>
            <a:ext cx="1389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Pharmacist Verifies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96128" y="3291840"/>
            <a:ext cx="13898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BFD8"/>
                </a:solidFill>
              </a:rPr>
              <a:t>Pharmacist calls verifyPrescription(reportId). Contract returns hash, isValid, isDispensed flags.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223760" y="1664208"/>
            <a:ext cx="1572768" cy="29260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23760" y="1664208"/>
            <a:ext cx="157276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0" y="1810512"/>
            <a:ext cx="1572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7818120" y="230428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18120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315200" y="2816352"/>
            <a:ext cx="13898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Single Dispense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315200" y="3291840"/>
            <a:ext cx="138988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A0BFD8"/>
                </a:solidFill>
              </a:rPr>
              <a:t>dispense() enforces single-use invariant. Re-dispensing is blocked permanently on-chain.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47472" y="4754880"/>
            <a:ext cx="8449056" cy="2743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59E0B"/>
                </a:solidFill>
              </a:rPr>
              <a:t>Contract: 0x997Ee29Ab4bb58EEd98eFfa5358B7E3e55265323  ·  Sepolia Testnet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8 / 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229868" cy="256032"/>
          </a:xfrm>
          <a:prstGeom prst="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2298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 FEATURES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Health Assistant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114800" cy="35478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41148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188720" y="153619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Symptom Triage Chat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48640" y="2029968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A0BFD8"/>
                </a:solidFill>
              </a:rPr>
              <a:t>Powered by Groq Llama 3.3-70b via the Groq Cloud API, the HealthAssistant allows patients to describe symptoms in plain language and receive instant preliminary triage guidance.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46120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00400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FD8"/>
                </a:solidFill>
              </a:rPr>
              <a:t>Natural language symptom input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648456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60273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FD8"/>
                </a:solidFill>
              </a:rPr>
              <a:t>LLM-powered triage response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050792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05072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FD8"/>
                </a:solidFill>
              </a:rPr>
              <a:t>Not a replacement for a doctor — directs patients to book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453128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07408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FD8"/>
                </a:solidFill>
              </a:rPr>
              <a:t>Chat interface with response history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1298448"/>
            <a:ext cx="4005072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298448"/>
            <a:ext cx="400507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19472" y="1463040"/>
            <a:ext cx="475488" cy="475488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145389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04688" y="1472184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Groq Llama 3.3-70b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19472" y="1956816"/>
            <a:ext cx="3675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Ultra-fast inference via Groq Cloud API. ~200 token/s response speed — near-instant for patients.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532888"/>
            <a:ext cx="4005072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532888"/>
            <a:ext cx="4005072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19472" y="2697480"/>
            <a:ext cx="475488" cy="475488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2896" y="268833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💬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504688" y="2706624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Chat Interface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19472" y="3191256"/>
            <a:ext cx="3675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Built-in ChatBot.jsx page with conversation history. Persists Q&amp;A during session.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767328"/>
            <a:ext cx="4005072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767328"/>
            <a:ext cx="400507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19472" y="3931920"/>
            <a:ext cx="475488" cy="475488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82896" y="392277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🩺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504688" y="3941064"/>
            <a:ext cx="3090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Booking Integration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19472" y="4425696"/>
            <a:ext cx="3675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AI response prompts user to book a consultation with a relevant specialist on the platform.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9 / 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403604" cy="256032"/>
          </a:xfrm>
          <a:prstGeom prst="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4036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VIDEO CONSULT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 Video Consultations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BFD8"/>
                </a:solidFill>
              </a:rPr>
              <a:t>Powered by Agora RTC SDK — WebRTC-based video with no plugin install required.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2670048" cy="15087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64208"/>
            <a:ext cx="267004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828800"/>
            <a:ext cx="420624" cy="420624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" y="1810512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📹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184708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Peer-to-Peer Video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30352" y="230428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BFD8"/>
                </a:solidFill>
              </a:rPr>
              <a:t>Full-duplex video between patient and doctor via Agora WebRTC. No third-party app needed.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18688" y="1664208"/>
            <a:ext cx="2670048" cy="15087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18688" y="1664208"/>
            <a:ext cx="267004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1828800"/>
            <a:ext cx="420624" cy="420624"/>
          </a:xfrm>
          <a:prstGeom prst="ellipse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810512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🎤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904488" y="184708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Mute / Camera Toggle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83280" y="230428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BFD8"/>
                </a:solidFill>
              </a:rPr>
              <a:t>Real-time mute and video off controls. Local camera preview shown in PiP window.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71616" y="1664208"/>
            <a:ext cx="2670048" cy="15087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71616" y="1664208"/>
            <a:ext cx="267004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36208" y="1828800"/>
            <a:ext cx="420624" cy="420624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0488" y="1810512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57416" y="184708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Live Call Timer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36208" y="2304288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BFD8"/>
                </a:solidFill>
              </a:rPr>
              <a:t>Elapsed time displayed from moment peer connects. Automatically stops when peer leaves.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328416"/>
            <a:ext cx="2670048" cy="15087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328416"/>
            <a:ext cx="2670048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3493008"/>
            <a:ext cx="420624" cy="420624"/>
          </a:xfrm>
          <a:prstGeom prst="ellipse">
            <a:avLst/>
          </a:prstGeom>
          <a:solidFill>
            <a:srgbClr val="059669">
              <a:alpha val="20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" y="3474720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51560" y="351129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Access Control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30352" y="3968496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BFD8"/>
                </a:solidFill>
              </a:rPr>
              <a:t>Only the two parties in the appointment can join. JWT-gated /video/check endpoint validates access.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18688" y="3328416"/>
            <a:ext cx="2670048" cy="15087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18688" y="3328416"/>
            <a:ext cx="2670048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3280" y="3493008"/>
            <a:ext cx="420624" cy="420624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3474720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904488" y="351129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Channel Management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3383280" y="3968496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BFD8"/>
                </a:solidFill>
              </a:rPr>
              <a:t>Backend generates Agora channel names tied to appointment IDs. Token served from /video/token.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071616" y="3328416"/>
            <a:ext cx="2670048" cy="150876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71616" y="3328416"/>
            <a:ext cx="2670048" cy="6400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36208" y="3493008"/>
            <a:ext cx="420624" cy="420624"/>
          </a:xfrm>
          <a:prstGeom prst="ellipse">
            <a:avLst/>
          </a:prstGeom>
          <a:solidFill>
            <a:srgbClr val="E11D48">
              <a:alpha val="20000"/>
            </a:srgbClr>
          </a:solidFill>
          <a:ln w="12700">
            <a:solidFill>
              <a:srgbClr val="E11D48">
                <a:alpha val="4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90488" y="3474720"/>
            <a:ext cx="512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🔄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757416" y="351129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Auto Reconnect State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236208" y="3968496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BFD8"/>
                </a:solidFill>
              </a:rPr>
              <a:t>user-unpublished and user-left Agora events detected. UI shows 'person left' gracefully.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 / 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577340" cy="256032"/>
          </a:xfrm>
          <a:prstGeom prst="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5773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PHARMACY MODULE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Pharmacy Verification Portal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26517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265176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463040"/>
            <a:ext cx="475488" cy="475488"/>
          </a:xfrm>
          <a:prstGeom prst="ellipse">
            <a:avLst/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45389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15568" y="147218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Patient Gets RX Code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1956816"/>
            <a:ext cx="23225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After doctor creates report and blockchain tx confirms, patient sees RX-2026-{id} on their dashboard and reports page.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71800" y="208483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200400" y="1298448"/>
            <a:ext cx="26517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298448"/>
            <a:ext cx="26517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1463040"/>
            <a:ext cx="475488" cy="475488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28416" y="145389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🔍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950208" y="147218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Pharmacist Verifies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64992" y="1956816"/>
            <a:ext cx="23225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Pharmacist logs into PharmacyPortal with role=PHARMACIST. Enters RX code → system calls verifyPrescription() on-chain.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06440" y="208483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748B"/>
                </a:solidFill>
              </a:rPr>
              <a:t>→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6035040" y="1298448"/>
            <a:ext cx="265176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1298448"/>
            <a:ext cx="26517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99632" y="1463040"/>
            <a:ext cx="475488" cy="475488"/>
          </a:xfrm>
          <a:prstGeom prst="ellipse">
            <a:avLst/>
          </a:prstGeom>
          <a:solidFill>
            <a:srgbClr val="059669">
              <a:alpha val="15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63056" y="1453896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84848" y="147218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Dispense &amp; Record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99632" y="1956816"/>
            <a:ext cx="23225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If isValid=true and isDispensed=false, pharmacist confirms dispense. dispense() writes permanent on-chain record.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639312"/>
            <a:ext cx="8412480" cy="12618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639312"/>
            <a:ext cx="64008" cy="126187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7307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11D48"/>
                </a:solidFill>
              </a:rPr>
              <a:t>Security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406908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0BFD8"/>
                </a:solidFill>
              </a:rPr>
              <a:t>• GET /prescription/:reportId protected by authRequired + requireRole("PHARMACIST") — no patient or doctor can call it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94360" y="432511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0BFD8"/>
                </a:solidFill>
              </a:rPr>
              <a:t>• POST /dispense/:reportId validates isValid on-chain before writing — invalid prescriptions cannot be dispensed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4360" y="4581144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A0BFD8"/>
                </a:solidFill>
              </a:rPr>
              <a:t>• On-chain single-dispense invariant: once dispensed, smart contract permanently blocks re-dispensing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11 / 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837944" cy="256032"/>
          </a:xfrm>
          <a:prstGeom prst="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PAYMENTS &amp; BOOKING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 Booking &amp; Stripe Payments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023360" cy="3547872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98448"/>
            <a:ext cx="4023360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447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📅  Appointment Booking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1975104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192024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FD8"/>
                </a:solidFill>
              </a:rPr>
              <a:t>Patient selects doctor from marketplace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2395728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34086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FD8"/>
                </a:solidFill>
              </a:rPr>
              <a:t>Chooses date + time slot (requestedStart)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2816352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76148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FD8"/>
                </a:solidFill>
              </a:rPr>
              <a:t>Selects appointment type: In-Person or Video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" y="3236976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318211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FD8"/>
                </a:solidFill>
              </a:rPr>
              <a:t>Writes reason for consultation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657600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60273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FD8"/>
                </a:solidFill>
              </a:rPr>
              <a:t>Doctor confirms → status: CONFIRMED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4078224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402336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FD8"/>
                </a:solidFill>
              </a:rPr>
              <a:t>Doctor completes → status: COMPLETED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36592" y="1298448"/>
            <a:ext cx="4023360" cy="3547872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36592" y="1298448"/>
            <a:ext cx="40233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14447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💳  Stripe Integration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919472" y="197510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3792" y="192024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FD8"/>
                </a:solidFill>
              </a:rPr>
              <a:t>Consultation fee set per doctor profile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19472" y="2395728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93792" y="234086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FD8"/>
                </a:solidFill>
              </a:rPr>
              <a:t>Stripe PaymentIntent created server-side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19472" y="281635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93792" y="276148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FD8"/>
                </a:solidFill>
              </a:rPr>
              <a:t>CardElement in BookAppointment.jsx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19472" y="323697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93792" y="318211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FD8"/>
                </a:solidFill>
              </a:rPr>
              <a:t>Key prop on &lt;Elements&gt; forces remount on doctor change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919472" y="365760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93792" y="3602736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FD8"/>
                </a:solidFill>
              </a:rPr>
              <a:t>PaymentStatus badge on dashboards (PENDING/PAID/WAIVED)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19472" y="407822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93792" y="402336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BFD8"/>
                </a:solidFill>
              </a:rPr>
              <a:t>Test-mode — no real charges in prototype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12 / 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969264" cy="256032"/>
          </a:xfrm>
          <a:prstGeom prst="rect">
            <a:avLst>
              <a:gd name="adj" fmla="val 14286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SECURITY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&amp; Role Architecture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47472" y="1298448"/>
            <a:ext cx="2029968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98448"/>
            <a:ext cx="2029968" cy="640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444752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🧑‍🤒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7472" y="1920240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PATIENT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12064" y="2331720"/>
            <a:ext cx="170078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450592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39572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Book appointments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0352" y="2880360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82549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View own reports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" y="331012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25526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Pay consultation fee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" y="373989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6850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Access video call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0352" y="4169664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41148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View RX code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23744" y="1298448"/>
            <a:ext cx="2029968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23744" y="1298448"/>
            <a:ext cx="2029968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3744" y="1444752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🩺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2523744" y="1920240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DOCTOR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688336" y="2331720"/>
            <a:ext cx="170078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06624" y="2450592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239572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Manage appointments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06624" y="2880360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0" y="282549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Create consultation reports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06624" y="3310128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325526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Generate PDFs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06624" y="3739896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0" y="36850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Write prescriptions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06624" y="4169664"/>
            <a:ext cx="146304" cy="146304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0" y="411480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Launch video call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00016" y="1298448"/>
            <a:ext cx="2029968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00016" y="1298448"/>
            <a:ext cx="2029968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0016" y="1444752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💊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4700016" y="1920240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PHARMACIST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64608" y="2331720"/>
            <a:ext cx="170078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82896" y="2450592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02352" y="239572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Verify prescriptions on-chain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82896" y="2880360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02352" y="282549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View patient + doctor info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82896" y="3310128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02352" y="325526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Dispense prescriptions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82896" y="3739896"/>
            <a:ext cx="146304" cy="14630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02352" y="36850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View dispense history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876288" y="1298448"/>
            <a:ext cx="2029968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876288" y="1298448"/>
            <a:ext cx="2029968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76288" y="1444752"/>
            <a:ext cx="2029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52" name="Text 50"/>
          <p:cNvSpPr/>
          <p:nvPr/>
        </p:nvSpPr>
        <p:spPr>
          <a:xfrm>
            <a:off x="6876288" y="1920240"/>
            <a:ext cx="20299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ADMIN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7040880" y="2331720"/>
            <a:ext cx="1700784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59168" y="2450592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78624" y="239572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View all doctors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059168" y="2880360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78624" y="2825496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Monitor platform stats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059168" y="3310128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78624" y="3255264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View blockchain network status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059168" y="3739896"/>
            <a:ext cx="146304" cy="14630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78624" y="3685032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System health overview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47472" y="4809744"/>
            <a:ext cx="8449056" cy="23774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481888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BFD8"/>
                </a:solidFill>
              </a:rPr>
              <a:t>Auth: JWT (jsonwebtoken) · Passwords: bcrypt hash · Middleware: authRequired + requireRole(role) on every protected route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13 / 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"/>
            <a:ext cx="1490472" cy="256032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CCFB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490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9488"/>
                </a:solidFill>
              </a:rPr>
              <a:t>PLATFORM SCOPE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 at a Glance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1920240" cy="132588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</a:rPr>
              <a:t>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" y="20848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User Roles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Patient · Doctor · Pharmacist · Admin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87752" y="1280160"/>
            <a:ext cx="1920240" cy="1325880"/>
          </a:xfrm>
          <a:prstGeom prst="rect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24912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87752" y="14447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EB"/>
                </a:solidFill>
              </a:rPr>
              <a:t>10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587752" y="20848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Backend Route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Modules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72584" y="1280160"/>
            <a:ext cx="1920240" cy="1325880"/>
          </a:xfrm>
          <a:prstGeom prst="rect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⛓️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72584" y="14447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</a:rPr>
              <a:t>7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672584" y="20848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Solidity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Smart Contract Fns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57416" y="1280160"/>
            <a:ext cx="1920240" cy="1325880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94576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⚛️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57416" y="1444752"/>
            <a:ext cx="1920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C3AED"/>
                </a:solidFill>
              </a:rPr>
              <a:t>25+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757416" y="208483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React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Page Components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" y="2816352"/>
            <a:ext cx="416052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281635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🔍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9536" y="28529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0BFD8"/>
                </a:solidFill>
              </a:rPr>
              <a:t>Doctor Marketplace — browse, filter, view profiles and fees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4727448" y="2816352"/>
            <a:ext cx="416052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2816352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📅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202936" y="285292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0BFD8"/>
                </a:solidFill>
              </a:rPr>
              <a:t>Appointment booking — full lifecycle PENDING → CONFIRMED → COMPLETED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384048" y="3291840"/>
            <a:ext cx="416052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2918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📹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59536" y="332841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0BFD8"/>
                </a:solidFill>
              </a:rPr>
              <a:t>Video consultations via Agora RTC — no plugin required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4727448" y="3291840"/>
            <a:ext cx="416052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3291840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⛓️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02936" y="332841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0BFD8"/>
                </a:solidFill>
              </a:rPr>
              <a:t>Blockchain prescription verification — Ethereum Sepolia, Solidity 0.8.x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384048" y="3767328"/>
            <a:ext cx="416052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376732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🤖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59536" y="38039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0BFD8"/>
                </a:solidFill>
              </a:rPr>
              <a:t>AI symptom triage — Groq Llama 3.3-70b, instant responses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4727448" y="3767328"/>
            <a:ext cx="416052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3767328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💳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202936" y="38039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0BFD8"/>
                </a:solidFill>
              </a:rPr>
              <a:t>Stripe payments — PaymentIntent, CardElement, per-doctor fees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384048" y="4242816"/>
            <a:ext cx="416052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" y="424281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💊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59536" y="42793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0BFD8"/>
                </a:solidFill>
              </a:rPr>
              <a:t>Pharmacy portal — RX code, on-chain verify + single-use dispense</a:t>
            </a:r>
            <a:endParaRPr lang="en-US" sz="980" dirty="0"/>
          </a:p>
        </p:txBody>
      </p:sp>
      <p:sp>
        <p:nvSpPr>
          <p:cNvPr id="43" name="Shape 41"/>
          <p:cNvSpPr/>
          <p:nvPr/>
        </p:nvSpPr>
        <p:spPr>
          <a:xfrm>
            <a:off x="4727448" y="4242816"/>
            <a:ext cx="416052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18888" y="4242816"/>
            <a:ext cx="347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📄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202936" y="42793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A0BFD8"/>
                </a:solidFill>
              </a:rPr>
              <a:t>PDF reports — auto-generated, S3-stored, blockchain-anchored</a:t>
            </a:r>
            <a:endParaRPr lang="en-US" sz="9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5029200" cy="502920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371600"/>
            <a:ext cx="3657600" cy="3657600"/>
          </a:xfrm>
          <a:prstGeom prst="ellipse">
            <a:avLst/>
          </a:prstGeom>
          <a:solidFill>
            <a:srgbClr val="14B8A6">
              <a:alpha val="8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5603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47472"/>
            <a:ext cx="1837944" cy="256032"/>
          </a:xfrm>
          <a:prstGeom prst="rect">
            <a:avLst>
              <a:gd name="adj" fmla="val 1428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4747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ONESTEP HEALTHCARE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02920" y="74980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502920" y="19019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</a:rPr>
              <a:t>Built with React · Node.js · MySQL · Ethereum · Groq AI · Stripe · Agora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468880"/>
            <a:ext cx="2587752" cy="292608"/>
          </a:xfrm>
          <a:prstGeom prst="rect">
            <a:avLst/>
          </a:prstGeom>
          <a:solidFill>
            <a:srgbClr val="0A2840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68880"/>
            <a:ext cx="2587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Full-stack health platform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27832" y="2468880"/>
            <a:ext cx="3195828" cy="292608"/>
          </a:xfrm>
          <a:prstGeom prst="rect">
            <a:avLst/>
          </a:prstGeom>
          <a:solidFill>
            <a:srgbClr val="0A2840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2468880"/>
            <a:ext cx="31958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Blockchain prescription integrity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60820" y="2468880"/>
            <a:ext cx="1805940" cy="292608"/>
          </a:xfrm>
          <a:prstGeom prst="rect">
            <a:avLst/>
          </a:prstGeom>
          <a:solidFill>
            <a:srgbClr val="0A2840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0820" y="2468880"/>
            <a:ext cx="1805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AI symptom triage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52928"/>
            <a:ext cx="2327148" cy="292608"/>
          </a:xfrm>
          <a:prstGeom prst="rect">
            <a:avLst/>
          </a:prstGeom>
          <a:solidFill>
            <a:srgbClr val="0A2840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52928"/>
            <a:ext cx="23271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Real-time video consult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67228" y="2852928"/>
            <a:ext cx="2500884" cy="292608"/>
          </a:xfrm>
          <a:prstGeom prst="rect">
            <a:avLst/>
          </a:prstGeom>
          <a:solidFill>
            <a:srgbClr val="0A2840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67228" y="2852928"/>
            <a:ext cx="25008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Role-based access control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05272" y="2852928"/>
            <a:ext cx="2327148" cy="292608"/>
          </a:xfrm>
          <a:prstGeom prst="rect">
            <a:avLst/>
          </a:prstGeom>
          <a:solidFill>
            <a:srgbClr val="0A2840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05272" y="2852928"/>
            <a:ext cx="23271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4B8A6"/>
                </a:solidFill>
              </a:rPr>
              <a:t>Stripe-powered payments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45537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F7A"/>
                </a:solidFill>
              </a:rPr>
              <a:t>Studio 5  ·  Academic Prototype  ·  Not for clinical use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OneStep HealthCare</dc:title>
  <dc:subject>PptxGenJS Presentation</dc:subject>
  <dc:creator>OneStep HealthCare Team</dc:creator>
  <cp:lastModifiedBy>OneStep HealthCare Team</cp:lastModifiedBy>
  <cp:revision>1</cp:revision>
  <dcterms:created xsi:type="dcterms:W3CDTF">2026-06-10T18:09:32Z</dcterms:created>
  <dcterms:modified xsi:type="dcterms:W3CDTF">2026-06-10T18:09:32Z</dcterms:modified>
</cp:coreProperties>
</file>